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1"/>
  </p:notesMasterIdLst>
  <p:handoutMasterIdLst>
    <p:handoutMasterId r:id="rId12"/>
  </p:handoutMasterIdLst>
  <p:sldIdLst>
    <p:sldId id="278" r:id="rId5"/>
    <p:sldId id="282" r:id="rId6"/>
    <p:sldId id="271" r:id="rId7"/>
    <p:sldId id="283" r:id="rId8"/>
    <p:sldId id="284" r:id="rId9"/>
    <p:sldId id="292" r:id="rId1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5388" autoAdjust="0"/>
  </p:normalViewPr>
  <p:slideViewPr>
    <p:cSldViewPr snapToGrid="0">
      <p:cViewPr varScale="1">
        <p:scale>
          <a:sx n="127" d="100"/>
          <a:sy n="127" d="100"/>
        </p:scale>
        <p:origin x="110" y="20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251525F-CA02-45B6-8BE5-17305369F782}" type="datetime1">
              <a:rPr lang="es-ES" smtClean="0"/>
              <a:t>13/09/2026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CFA70580-B89C-4157-871D-6B9318EE5F5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BFF449C-E3E0-45CA-8FC8-EE3F6E0B8129}" type="datetime1">
              <a:rPr lang="es-ES" smtClean="0"/>
              <a:t>13/09/2026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7AF00E9-A49D-4007-B3B9-A3783809E50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s-ES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ítu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2" name="Marcador de contenid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Forma libre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1" name="Elipse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orma libre: Forma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orma libre: Forma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orma libre: Forma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es-ES" sz="5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es-ES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orma libre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Forma libre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3" name="Forma libre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8" name="Marcador de posición de imagen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es-ES" sz="18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orma libre: Forma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orma libre: Forma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orma libre: Forma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s-ES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orma libre: Forma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5" name="Forma libre: Forma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800">
                <a:solidFill>
                  <a:schemeClr val="tx1"/>
                </a:solidFill>
              </a:defRPr>
            </a:lvl2pPr>
            <a:lvl3pPr>
              <a:defRPr lang="es-ES" sz="1800">
                <a:solidFill>
                  <a:schemeClr val="tx1"/>
                </a:solidFill>
              </a:defRPr>
            </a:lvl3pPr>
            <a:lvl4pPr>
              <a:defRPr lang="es-ES" sz="180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800">
                <a:solidFill>
                  <a:schemeClr val="tx1"/>
                </a:solidFill>
              </a:defRPr>
            </a:lvl2pPr>
            <a:lvl3pPr>
              <a:defRPr lang="es-ES" sz="1800">
                <a:solidFill>
                  <a:schemeClr val="tx1"/>
                </a:solidFill>
              </a:defRPr>
            </a:lvl3pPr>
            <a:lvl4pPr>
              <a:defRPr lang="es-ES" sz="180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s-ES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orma libre: Forma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es-ES" sz="6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s-ES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 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es-ES"/>
            </a:def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s-ES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704" r:id="rId6"/>
    <p:sldLayoutId id="2147483688" r:id="rId7"/>
    <p:sldLayoutId id="2147483686" r:id="rId8"/>
    <p:sldLayoutId id="2147483685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5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dthgp27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5542025"/>
          </a:xfrm>
          <a:noFill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indent="0" algn="ctr">
              <a:lnSpc>
                <a:spcPct val="125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s-ES" sz="2400" b="1" dirty="0" err="1">
                <a:effectLst/>
                <a:latin typeface="quote-cjk-patch"/>
              </a:rPr>
              <a:t>Dataset</a:t>
            </a:r>
            <a:r>
              <a:rPr lang="es-ES" sz="2400" b="1" dirty="0">
                <a:effectLst/>
                <a:latin typeface="quote-cjk-patch"/>
              </a:rPr>
              <a:t> enriquecido con Open Data</a:t>
            </a:r>
            <a:br>
              <a:rPr lang="es-ES" sz="2400" b="1" dirty="0">
                <a:effectLst/>
                <a:latin typeface="quote-cjk-patch"/>
              </a:rPr>
            </a:br>
            <a:br>
              <a:rPr lang="es-ES" sz="2400" b="1" dirty="0">
                <a:effectLst/>
                <a:latin typeface="quote-cjk-patch"/>
              </a:rPr>
            </a:br>
            <a:br>
              <a:rPr lang="es-ES" sz="2400" b="1" dirty="0">
                <a:effectLst/>
                <a:latin typeface="quote-cjk-patch"/>
              </a:rPr>
            </a:br>
            <a:r>
              <a:rPr lang="es-ES" sz="2400" b="1" dirty="0">
                <a:effectLst/>
                <a:latin typeface="quote-cjk-patch"/>
              </a:rPr>
              <a:t>El Mercado de las Especias de </a:t>
            </a:r>
            <a:r>
              <a:rPr lang="es-ES" sz="2400" b="1" dirty="0" err="1">
                <a:effectLst/>
                <a:latin typeface="quote-cjk-patch"/>
              </a:rPr>
              <a:t>Dataclysm</a:t>
            </a:r>
            <a:br>
              <a:rPr lang="es-ES" sz="2400" b="1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es-ES" sz="2400" b="1" dirty="0">
                <a:effectLst/>
                <a:latin typeface="quote-cjk-patch"/>
              </a:rPr>
            </a:br>
            <a:br>
              <a:rPr lang="es-ES" sz="2400" b="1" dirty="0">
                <a:effectLst/>
                <a:latin typeface="quote-cjk-patch"/>
              </a:rPr>
            </a:br>
            <a:endParaRPr lang="es-ES" sz="2400" b="1" dirty="0">
              <a:effectLst/>
              <a:latin typeface="quote-cjk-patch"/>
            </a:endParaRPr>
          </a:p>
        </p:txBody>
      </p:sp>
      <p:pic>
        <p:nvPicPr>
          <p:cNvPr id="8" name="Marcador de posición de imagen 13" descr="Fondo digital de puntos de datos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Enriquecimiento de datos con Open Data</a:t>
            </a:r>
            <a:br>
              <a:rPr lang="es-ES" dirty="0"/>
            </a:br>
            <a:r>
              <a:rPr lang="es-ES" dirty="0"/>
              <a:t>El Mercado de las Especias de </a:t>
            </a:r>
            <a:r>
              <a:rPr lang="es-ES" dirty="0" err="1"/>
              <a:t>Dataclysm</a:t>
            </a:r>
            <a:endParaRPr lang="es-E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FD72273-ABB2-A4B2-667C-035160483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607499"/>
              </p:ext>
            </p:extLst>
          </p:nvPr>
        </p:nvGraphicFramePr>
        <p:xfrm>
          <a:off x="550863" y="2849468"/>
          <a:ext cx="5266406" cy="184055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633203">
                  <a:extLst>
                    <a:ext uri="{9D8B030D-6E8A-4147-A177-3AD203B41FA5}">
                      <a16:colId xmlns:a16="http://schemas.microsoft.com/office/drawing/2014/main" val="753081804"/>
                    </a:ext>
                  </a:extLst>
                </a:gridCol>
                <a:gridCol w="2633203">
                  <a:extLst>
                    <a:ext uri="{9D8B030D-6E8A-4147-A177-3AD203B41FA5}">
                      <a16:colId xmlns:a16="http://schemas.microsoft.com/office/drawing/2014/main" val="548954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Característica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Valor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230409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Fuente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Online Retail II (UCI Repository)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81727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Transacciones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767.853 (tras limpieza)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87970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Periodo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Diciembre 2009 – Diciembre 2011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6214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País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Reino Unido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03309760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3AE1ED8-0BDE-113E-A5A1-B365F65FC941}"/>
              </a:ext>
            </a:extLst>
          </p:cNvPr>
          <p:cNvSpPr txBox="1"/>
          <p:nvPr/>
        </p:nvSpPr>
        <p:spPr>
          <a:xfrm>
            <a:off x="479759" y="2360012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Contenido — </a:t>
            </a:r>
            <a:r>
              <a:rPr lang="es-ES" sz="1800" b="1" i="0" dirty="0" err="1">
                <a:solidFill>
                  <a:schemeClr val="tx1"/>
                </a:solidFill>
                <a:effectLst/>
                <a:latin typeface="+mn-lt"/>
              </a:rPr>
              <a:t>Dataset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 principal: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3C86E90E-8172-9781-F330-A0029690A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297318"/>
              </p:ext>
            </p:extLst>
          </p:nvPr>
        </p:nvGraphicFramePr>
        <p:xfrm>
          <a:off x="5910897" y="2849468"/>
          <a:ext cx="5730240" cy="110433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1538163539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9203650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Fuente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Datos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754754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World Bank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PIB, inflación, desempleo, población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05094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ONS Nomis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Población por región UK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33426816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C3326EED-5166-58F1-088B-FB9C8EF24BE7}"/>
              </a:ext>
            </a:extLst>
          </p:cNvPr>
          <p:cNvSpPr txBox="1"/>
          <p:nvPr/>
        </p:nvSpPr>
        <p:spPr>
          <a:xfrm>
            <a:off x="6479005" y="2360012"/>
            <a:ext cx="4750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Contenido — Open Data: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84BB0C-1CE7-55BA-EBA8-17CE56858FBC}"/>
              </a:ext>
            </a:extLst>
          </p:cNvPr>
          <p:cNvSpPr txBox="1"/>
          <p:nvPr/>
        </p:nvSpPr>
        <p:spPr>
          <a:xfrm>
            <a:off x="818148" y="5197642"/>
            <a:ext cx="9323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Objetivo destacado:</a:t>
            </a:r>
            <a:endParaRPr lang="es-ES" dirty="0"/>
          </a:p>
          <a:p>
            <a:r>
              <a:rPr lang="es-ES" dirty="0"/>
              <a:t>"Enriquecer las ventas internas con contexto económico externo para descubrir </a:t>
            </a:r>
            <a:r>
              <a:rPr lang="es-ES" dirty="0" err="1"/>
              <a:t>insights</a:t>
            </a:r>
            <a:r>
              <a:rPr lang="es-ES" dirty="0"/>
              <a:t> ocultos."</a:t>
            </a:r>
          </a:p>
          <a:p>
            <a:endParaRPr lang="es-ES" dirty="0"/>
          </a:p>
        </p:txBody>
      </p:sp>
      <p:pic>
        <p:nvPicPr>
          <p:cNvPr id="13" name="ElevenLabs_2026-09-13T19_05_29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E7A3C6ED-F49B-F391-EC28-2A2E8F543E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477667" y="596983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882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58" y="3485995"/>
            <a:ext cx="11115355" cy="1049910"/>
          </a:xfrm>
          <a:noFill/>
        </p:spPr>
        <p:txBody>
          <a:bodyPr rtlCol="0" anchor="ctr"/>
          <a:lstStyle>
            <a:defPPr>
              <a:defRPr lang="es-ES"/>
            </a:defPPr>
          </a:lstStyle>
          <a:p>
            <a:pPr marL="0" marR="0" indent="0" algn="l">
              <a:lnSpc>
                <a:spcPct val="121212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s-ES" sz="2400" b="1" dirty="0">
                <a:effectLst/>
                <a:latin typeface="quote-cjk-patch"/>
              </a:rPr>
              <a:t>Hallazgos clave del análisis comparativo</a:t>
            </a:r>
          </a:p>
        </p:txBody>
      </p:sp>
      <p:pic>
        <p:nvPicPr>
          <p:cNvPr id="11" name="Marcador de posición de imagen 15" descr="Fondo digital de puntos de datos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9D2D7BE-F322-C849-D3A0-6213331A9954}"/>
              </a:ext>
            </a:extLst>
          </p:cNvPr>
          <p:cNvSpPr txBox="1"/>
          <p:nvPr/>
        </p:nvSpPr>
        <p:spPr>
          <a:xfrm>
            <a:off x="234616" y="4229099"/>
            <a:ext cx="4028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Tres hallazgos que cambian la perspectiva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440C8CE-B83E-45E1-0BF5-AFC1A56D1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84588"/>
              </p:ext>
            </p:extLst>
          </p:nvPr>
        </p:nvGraphicFramePr>
        <p:xfrm>
          <a:off x="6096000" y="4413765"/>
          <a:ext cx="5730240" cy="2187385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1910080">
                  <a:extLst>
                    <a:ext uri="{9D8B030D-6E8A-4147-A177-3AD203B41FA5}">
                      <a16:colId xmlns:a16="http://schemas.microsoft.com/office/drawing/2014/main" val="1422572920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3965376873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2360578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#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Hallazgo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Cifra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296874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1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Pérdida por inflación en 2011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£282.555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31995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2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Caída del Q4 2011 vs Q4 2010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-16,9%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31319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3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Ventas tienda vs PIB UK (2010-2011)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-7% vs +7,2%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19565465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1DBC597-0BC6-4394-C6CD-34D4619F0A14}"/>
              </a:ext>
            </a:extLst>
          </p:cNvPr>
          <p:cNvSpPr txBox="1"/>
          <p:nvPr/>
        </p:nvSpPr>
        <p:spPr>
          <a:xfrm>
            <a:off x="5904081" y="3859767"/>
            <a:ext cx="6124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Contenido — 3 </a:t>
            </a:r>
            <a:r>
              <a:rPr lang="es-ES" sz="1800" b="1" i="0" dirty="0" err="1">
                <a:solidFill>
                  <a:schemeClr val="tx1"/>
                </a:solidFill>
                <a:effectLst/>
                <a:latin typeface="+mn-lt"/>
              </a:rPr>
              <a:t>KPIs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 destacados: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BD9D5FC-2BA1-3F58-2B20-DBEC1E3AE1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3" y="457200"/>
            <a:ext cx="5745314" cy="296626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4E5B05B-D4DB-6F90-7B66-E29597D8E3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713" y="457199"/>
            <a:ext cx="5982814" cy="2966269"/>
          </a:xfrm>
          <a:prstGeom prst="rect">
            <a:avLst/>
          </a:prstGeom>
        </p:spPr>
      </p:pic>
      <p:pic>
        <p:nvPicPr>
          <p:cNvPr id="12" name="ElevenLabs_2026-09-13T19_09_43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ACBE4AF7-6B80-95A4-853A-610FBB20DE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74989" y="563896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6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4755063" cy="879926"/>
          </a:xfrm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marL="0" marR="0" indent="0" algn="l">
              <a:lnSpc>
                <a:spcPct val="121212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s-ES" sz="2400" b="1" dirty="0">
                <a:effectLst/>
                <a:latin typeface="quote-cjk-patch"/>
              </a:rPr>
              <a:t>Conclusiones: el valor del Open Data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076" y="1213184"/>
            <a:ext cx="4241297" cy="952500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2400" b="0" i="0" dirty="0">
                <a:effectLst/>
                <a:latin typeface="quote-cjk-patch"/>
              </a:rPr>
              <a:t>¿Qué aporta el Open Data?</a:t>
            </a:r>
            <a:endParaRPr lang="es-ES" dirty="0"/>
          </a:p>
        </p:txBody>
      </p:sp>
      <p:pic>
        <p:nvPicPr>
          <p:cNvPr id="7" name="Marcador de posición de imagen 17" descr="Una persona dibujando sobre una pizarra">
            <a:extLst>
              <a:ext uri="{FF2B5EF4-FFF2-40B4-BE49-F238E27FC236}">
                <a16:creationId xmlns:a16="http://schemas.microsoft.com/office/drawing/2014/main" id="{58104626-8F66-9575-5E49-2907EACF11C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8049" y="788713"/>
            <a:ext cx="5132388" cy="5132388"/>
          </a:xfrm>
          <a:solidFill>
            <a:schemeClr val="accent5"/>
          </a:solidFill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6F48F9A-1972-45A6-3CF5-E97872CE6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64182"/>
              </p:ext>
            </p:extLst>
          </p:nvPr>
        </p:nvGraphicFramePr>
        <p:xfrm>
          <a:off x="109604" y="2180012"/>
          <a:ext cx="5568446" cy="184055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784223">
                  <a:extLst>
                    <a:ext uri="{9D8B030D-6E8A-4147-A177-3AD203B41FA5}">
                      <a16:colId xmlns:a16="http://schemas.microsoft.com/office/drawing/2014/main" val="978640796"/>
                    </a:ext>
                  </a:extLst>
                </a:gridCol>
                <a:gridCol w="2784223">
                  <a:extLst>
                    <a:ext uri="{9D8B030D-6E8A-4147-A177-3AD203B41FA5}">
                      <a16:colId xmlns:a16="http://schemas.microsoft.com/office/drawing/2014/main" val="1364991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Sin Open Data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Con Open Data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167073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Solo veíamos ventas nominales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Vemos ventas reales ajustadas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43980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No sabíamos por qué caía el Q4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Coincide con inflación + desempleo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26331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No podíamos comparar con la economía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Sabemos que vamos contra el PIB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21689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Sin ratios de mercado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Ventas per cápita y por PIB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0573869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9BB7596-C8D3-330F-6B8E-14A1E6980227}"/>
              </a:ext>
            </a:extLst>
          </p:cNvPr>
          <p:cNvSpPr txBox="1"/>
          <p:nvPr/>
        </p:nvSpPr>
        <p:spPr>
          <a:xfrm>
            <a:off x="550862" y="1759834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Contenido — Antes vs Después: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4CA76-56D8-1F39-D06B-E6294AA86D5D}"/>
              </a:ext>
            </a:extLst>
          </p:cNvPr>
          <p:cNvSpPr txBox="1"/>
          <p:nvPr/>
        </p:nvSpPr>
        <p:spPr>
          <a:xfrm>
            <a:off x="66173" y="6488668"/>
            <a:ext cx="6456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"El Open Data transforma datos internos en contexto estratégico."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3C7ACEE-33A3-C9C1-60E2-3405568023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579" y="4034890"/>
            <a:ext cx="7700211" cy="2495663"/>
          </a:xfrm>
          <a:prstGeom prst="rect">
            <a:avLst/>
          </a:prstGeom>
        </p:spPr>
      </p:pic>
      <p:pic>
        <p:nvPicPr>
          <p:cNvPr id="11" name="ElevenLabs_2026-09-13T19_13_39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DA8B7B31-0D5C-0B6A-054F-786BC74976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3294" y="564481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0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512179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S" sz="2400" b="1" dirty="0"/>
              <a:t>Recomendaciones estratégicas y operativas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768EF86-5B72-1001-1C92-B9C6FEAAAA98}"/>
              </a:ext>
            </a:extLst>
          </p:cNvPr>
          <p:cNvSpPr txBox="1"/>
          <p:nvPr/>
        </p:nvSpPr>
        <p:spPr>
          <a:xfrm>
            <a:off x="550862" y="890336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 Plan de acción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B101F04-D46B-1E4E-CD79-F8E5847ECEE9}"/>
              </a:ext>
            </a:extLst>
          </p:cNvPr>
          <p:cNvSpPr txBox="1"/>
          <p:nvPr/>
        </p:nvSpPr>
        <p:spPr>
          <a:xfrm>
            <a:off x="407569" y="1402515"/>
            <a:ext cx="6097002" cy="231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600" b="1" i="1" u="sng" dirty="0">
                <a:solidFill>
                  <a:schemeClr val="tx1"/>
                </a:solidFill>
                <a:effectLst/>
                <a:latin typeface="+mn-lt"/>
              </a:rPr>
              <a:t>Recomendaciones estratégicas:</a:t>
            </a:r>
            <a:endParaRPr lang="es-ES" sz="1600" b="0" i="1" u="sng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600" b="1" i="0" dirty="0">
                <a:solidFill>
                  <a:schemeClr val="tx1"/>
                </a:solidFill>
                <a:effectLst/>
                <a:latin typeface="+mn-lt"/>
              </a:rPr>
              <a:t>Revisar la política de precios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+mn-lt"/>
              </a:rPr>
              <a:t> para compensar la inflación.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600" b="1" i="0" dirty="0">
                <a:solidFill>
                  <a:schemeClr val="tx1"/>
                </a:solidFill>
                <a:effectLst/>
                <a:latin typeface="+mn-lt"/>
              </a:rPr>
              <a:t>Reforzar las campañas del Q4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+mn-lt"/>
              </a:rPr>
              <a:t> con antelación, ajustando promociones al contexto.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600" b="1" i="0" dirty="0">
                <a:solidFill>
                  <a:schemeClr val="tx1"/>
                </a:solidFill>
                <a:effectLst/>
                <a:latin typeface="+mn-lt"/>
              </a:rPr>
              <a:t>Analizar la competitividad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+mn-lt"/>
              </a:rPr>
              <a:t>: ¿por qué no crecemos cuando el país crece?</a:t>
            </a:r>
            <a:endParaRPr lang="es-ES" sz="1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1138792-99FF-120D-EA0A-3E25A5B9622D}"/>
              </a:ext>
            </a:extLst>
          </p:cNvPr>
          <p:cNvSpPr txBox="1"/>
          <p:nvPr/>
        </p:nvSpPr>
        <p:spPr>
          <a:xfrm>
            <a:off x="341396" y="3715969"/>
            <a:ext cx="6097002" cy="231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600" b="1" i="1" u="sng" dirty="0">
                <a:solidFill>
                  <a:schemeClr val="tx1"/>
                </a:solidFill>
                <a:effectLst/>
                <a:latin typeface="+mn-lt"/>
              </a:rPr>
              <a:t>Recomendaciones operativas:</a:t>
            </a:r>
            <a:endParaRPr lang="es-ES" sz="1600" b="0" i="1" u="sng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600" b="1" i="0" dirty="0">
                <a:solidFill>
                  <a:schemeClr val="tx1"/>
                </a:solidFill>
                <a:effectLst/>
                <a:latin typeface="+mn-lt"/>
              </a:rPr>
              <a:t>Ajustar stock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+mn-lt"/>
              </a:rPr>
              <a:t> según contexto económico (menos stock en alta inflación).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600" b="1" i="0" dirty="0">
                <a:solidFill>
                  <a:schemeClr val="tx1"/>
                </a:solidFill>
                <a:effectLst/>
                <a:latin typeface="+mn-lt"/>
              </a:rPr>
              <a:t>Segmentar promociones por región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+mn-lt"/>
              </a:rPr>
              <a:t> (usando datos del ONS).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ES" sz="1600" b="1" i="0" dirty="0">
                <a:solidFill>
                  <a:schemeClr val="tx1"/>
                </a:solidFill>
                <a:effectLst/>
                <a:latin typeface="+mn-lt"/>
              </a:rPr>
              <a:t>Monitorizar indicadores macro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+mn-lt"/>
              </a:rPr>
              <a:t> (inflación, desempleo) para anticipar caídas.</a:t>
            </a:r>
            <a:endParaRPr lang="es-ES" sz="1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40A056E-6B6A-E3B2-9DCA-37771653E07A}"/>
              </a:ext>
            </a:extLst>
          </p:cNvPr>
          <p:cNvSpPr txBox="1"/>
          <p:nvPr/>
        </p:nvSpPr>
        <p:spPr>
          <a:xfrm>
            <a:off x="4969042" y="5895474"/>
            <a:ext cx="5516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"El Open Data nos permite anticipar, no solo reaccionar."</a:t>
            </a:r>
          </a:p>
        </p:txBody>
      </p:sp>
      <p:pic>
        <p:nvPicPr>
          <p:cNvPr id="11" name="ElevenLabs_2026-09-13T19_18_52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0DA0A2A2-7849-7E5B-8BC8-CADBEB12D1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485167" y="492308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6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Gracias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3646704"/>
            <a:ext cx="5179330" cy="2706160"/>
          </a:xfrm>
          <a:noFill/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S" b="1" dirty="0"/>
              <a:t>Contacto:</a:t>
            </a:r>
            <a:endParaRPr lang="es-ES" dirty="0"/>
          </a:p>
          <a:p>
            <a:pPr lvl="0"/>
            <a:r>
              <a:rPr lang="es-ES" dirty="0"/>
              <a:t>Autora: Judit Giravent</a:t>
            </a:r>
          </a:p>
          <a:p>
            <a:pPr lvl="0"/>
            <a:r>
              <a:rPr lang="es-ES" dirty="0"/>
              <a:t>GitHub: </a:t>
            </a:r>
            <a:r>
              <a:rPr lang="es-ES" dirty="0">
                <a:hlinkClick r:id="rId3"/>
              </a:rPr>
              <a:t>@jdthgp27</a:t>
            </a:r>
            <a:endParaRPr lang="es-ES" dirty="0"/>
          </a:p>
        </p:txBody>
      </p:sp>
      <p:pic>
        <p:nvPicPr>
          <p:cNvPr id="25" name="Marcador de posición de imagen 24" descr="Primer plano de una red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8_TF33713516_Win32" id="{DF728B89-FC3D-4E3A-BA79-B7D5AFC65CD2}" vid="{705D60A9-8AE8-4A8A-8A2B-380787BFC2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{DA1030E3-E4F3-459D-8F21-59B654652464}TF7eddf224-c89c-478f-8f2f-bfb0868921690f3abf7d_win32-fd26bf0c2aea</Template>
  <TotalTime>18</TotalTime>
  <Words>349</Words>
  <Application>Microsoft Office PowerPoint</Application>
  <PresentationFormat>Panorámica</PresentationFormat>
  <Paragraphs>72</Paragraphs>
  <Slides>6</Slides>
  <Notes>6</Notes>
  <HiddenSlides>0</HiddenSlides>
  <MMClips>4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Gill Sans MT</vt:lpstr>
      <vt:lpstr>quote-cjk-patch</vt:lpstr>
      <vt:lpstr>Walbaum Display</vt:lpstr>
      <vt:lpstr>3DFloatVTI</vt:lpstr>
      <vt:lpstr>Dataset enriquecido con Open Data   El Mercado de las Especias de Dataclysm   </vt:lpstr>
      <vt:lpstr>Enriquecimiento de datos con Open Data El Mercado de las Especias de Dataclysm</vt:lpstr>
      <vt:lpstr>Hallazgos clave del análisis comparativo</vt:lpstr>
      <vt:lpstr>Conclusiones: el valor del Open Data</vt:lpstr>
      <vt:lpstr>Recomendaciones estratégicas y operativas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Giravent Pineda</dc:creator>
  <cp:lastModifiedBy>Judit Giravent Pineda</cp:lastModifiedBy>
  <cp:revision>6</cp:revision>
  <dcterms:created xsi:type="dcterms:W3CDTF">2026-09-13T19:00:29Z</dcterms:created>
  <dcterms:modified xsi:type="dcterms:W3CDTF">2026-09-13T19:19:26Z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